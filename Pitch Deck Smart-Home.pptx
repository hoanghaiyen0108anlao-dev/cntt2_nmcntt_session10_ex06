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ce7841fa-153e-411f-8c29-fb59bc007173.fntdata" /><ns0:Relationship Id="rIdFont19" Type="http://schemas.openxmlformats.org/officeDocument/2006/relationships/font" Target="fonts/60037f89-7e8b-4b4a-9e69-69ff1cdc2c7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1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810250"/>
            <a:ext cx="10972800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258425" y="466725"/>
            <a:ext cx="1323975" cy="285750"/>
          </a:xfrm>
          <a:prstGeom prst="roundRect">
            <a:avLst>
              <a:gd name="adj" fmla="val 50000"/>
            </a:avLst>
          </a:prstGeom>
          <a:solidFill>
            <a:srgbClr val="21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8102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7200"/>
            <a:ext cx="3429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10825" y="523875"/>
            <a:ext cx="11144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Pitch Deck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61307"/>
            <a:ext cx="8572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B074"/>
                </a:solidFill>
                <a:latin typeface="Plus Jakarta Sans"/>
              </a:rPr>
              <a:t>DỰ ÁN KHỞI NGHIỆP ĐẤU GIÁ &amp; QUẢN LÝ BĐS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713732"/>
            <a:ext cx="73009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Kiến Tạo Không Gian Sống &amp; Đầu Tư Thông Minh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43362"/>
            <a:ext cx="6953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Nền tảng đấu giá nhà đất trực tuyến kết nối Tiện nghi – An toàn – Minh bạch – Tối ưu chi phí.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66725"/>
            <a:ext cx="186928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Smart-Home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48375"/>
            <a:ext cx="2214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THỜI GIAN TRÌNH BÀY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00775"/>
            <a:ext cx="221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20 Phút (Rule 10/20/30)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2250" y="6048375"/>
            <a:ext cx="2714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MỤC TIÊU HUY ĐỘNG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2250" y="6200775"/>
            <a:ext cx="2714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B074"/>
                </a:solidFill>
                <a:latin typeface="Plus Jakarta Sans"/>
              </a:rPr>
              <a:t>Vòng Hạt Giống (Seed Round)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19412"/>
            <a:ext cx="35052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919412"/>
            <a:ext cx="35052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919412"/>
            <a:ext cx="350520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57537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157537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157537"/>
            <a:ext cx="2000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875A"/>
                </a:solidFill>
                <a:latin typeface="Plus Jakarta Sans"/>
              </a:rPr>
              <a:t>01. VẤN ĐỀ THỊ TRƯỜNG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Giao Dịch Bất Động Sản Truyền Thống Thiếu Minh Bạch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484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63275" y="6248400"/>
            <a:ext cx="90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2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76637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0000"/>
                </a:solidFill>
                <a:latin typeface="Plus Jakarta Sans"/>
              </a:rPr>
              <a:t>Thông Tin Bất Đồng Bổ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90962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Giá cả bị đẩy cao qua nhiều tầng môi giới không rõ ràng.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3576637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0000"/>
                </a:solidFill>
                <a:latin typeface="Plus Jakarta Sans"/>
              </a:rPr>
              <a:t>Thời Gian Đấu Giá Dài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890962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Thủ tục thủ công phức tạp, mất nhiều tuần để hoàn tất hợp đồng.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576637"/>
            <a:ext cx="38766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0000"/>
                </a:solidFill>
                <a:latin typeface="Plus Jakarta Sans"/>
              </a:rPr>
              <a:t>Quản Lý Yếu Kém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890962"/>
            <a:ext cx="3124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Sử dụng dữ liệu Excel phân tán, hay gộp ô (Merge Cell) gây sai sót hoa hồng.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181225"/>
            <a:ext cx="5334000" cy="304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19375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05200"/>
            <a:ext cx="1428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9102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875A"/>
                </a:solidFill>
                <a:latin typeface="Plus Jakarta Sans"/>
              </a:rPr>
              <a:t>02. GIẢI PHÁP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Nền Tảng Đấu Giá &amp; Quản Lý Nhà Đất Trực Tuyến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484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63275" y="6248400"/>
            <a:ext cx="90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3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581275"/>
            <a:ext cx="7000875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875A"/>
                </a:solidFill>
                <a:latin typeface="Plus Jakarta Sans"/>
              </a:rPr>
              <a:t>Đấu Giá Trực Tuyến Tự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876550"/>
            <a:ext cx="5429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Cập nhật bước giá thời gian thực, đảm bảo minh bạch tuyệt đối cho người mua và bán.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467100"/>
            <a:ext cx="7000875" cy="238125"/>
          </a:xfrm>
          <a:prstGeom prst="rect">
            <a:avLst/>
          </a:prstGeom>
          <a:noFill/>
        </p:spPr>
        <p:txBody>
          <a:bodyPr wrap="none" lIns="2190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875A"/>
                </a:solidFill>
                <a:latin typeface="Plus Jakarta Sans"/>
              </a:rPr>
              <a:t>Chuẩn Hóa Quản Lý Dữ Liệu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762375"/>
            <a:ext cx="5429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Sử dụng cấu trúc chuẩn Field/Record, không Merge Cell, tính toán chiết khấu chính xác 100%.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352925"/>
            <a:ext cx="7000875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875A"/>
                </a:solidFill>
                <a:latin typeface="Plus Jakarta Sans"/>
              </a:rPr>
              <a:t>Bảo Mật &amp; Hệ Sinh Thái Smart-Home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648200"/>
            <a:ext cx="6667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Tích hợp giải pháp quản lý nhà thông minh giúp tăng giá trị tài sản đấu giá.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714625"/>
            <a:ext cx="5372100" cy="1981200"/>
          </a:xfrm>
          <a:prstGeom prst="roundRect">
            <a:avLst>
              <a:gd name="adj" fmla="val 5769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714625"/>
            <a:ext cx="5372100" cy="1981200"/>
          </a:xfrm>
          <a:prstGeom prst="roundRect">
            <a:avLst>
              <a:gd name="adj" fmla="val 576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76562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976562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352800"/>
            <a:ext cx="13335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829050"/>
            <a:ext cx="13335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124325"/>
            <a:ext cx="13335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352800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829050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124325"/>
            <a:ext cx="12382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875A"/>
                </a:solidFill>
                <a:latin typeface="Plus Jakarta Sans"/>
              </a:rPr>
              <a:t>03. CHUẨN HÓA DỮ LIỆU QUẢN LÝ (PHẦN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Phân Biệt Bảng Excel "Xấu" vs Bảng "Đúng Quy Tắc Vàng"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484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63275" y="6248400"/>
            <a:ext cx="90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4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" y="2952750"/>
            <a:ext cx="587216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Plus Jakarta Sans"/>
              </a:rPr>
              <a:t>Bảng Excel "Xấu" (Vi Phạm Quy Tắc)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2952750"/>
            <a:ext cx="549592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Plus Jakarta Sans"/>
              </a:rPr>
              <a:t>Bảng Excel "Đúng" (Chuẩn SRS)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324225"/>
            <a:ext cx="4991100" cy="36195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Plus Jakarta Sans"/>
              </a:rPr>
              <a:t>Gộp ô (Merge Cell):</a:t>
            </a:r>
            <a:r>
              <a:rPr b="0" sz="1125" i="0" u="none">
                <a:solidFill>
                  <a:srgbClr val="7F1D1D"/>
                </a:solidFill>
                <a:latin typeface="Plus Jakarta Sans"/>
              </a:rPr>
              <a:t> Làm hỏng cấu trúc dòng/cột, không thể sắp xếp hay lọc.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800475"/>
            <a:ext cx="6119812" cy="1809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Plus Jakarta Sans"/>
              </a:rPr>
              <a:t>Lẫn lộn dữ liệu:</a:t>
            </a:r>
            <a:r>
              <a:rPr b="0" sz="1125" i="0" u="none">
                <a:solidFill>
                  <a:srgbClr val="7F1D1D"/>
                </a:solidFill>
                <a:latin typeface="Plus Jakarta Sans"/>
              </a:rPr>
              <a:t> Để tiêu đề thừa, ô trống ngắt quãng giữa các Record.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095750"/>
            <a:ext cx="4991100" cy="36195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Plus Jakarta Sans"/>
              </a:rPr>
              <a:t>Lỗi công thức trôi:</a:t>
            </a:r>
            <a:r>
              <a:rPr b="0" sz="1125" i="0" u="none">
                <a:solidFill>
                  <a:srgbClr val="7F1D1D"/>
                </a:solidFill>
                <a:latin typeface="Plus Jakarta Sans"/>
              </a:rPr>
              <a:t> Không cố định địa chỉ tham chiếu khi kéo copy công thức.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3324225"/>
            <a:ext cx="499110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Plus Jakarta Sans"/>
              </a:rPr>
              <a:t>Không Merge Cell:</a:t>
            </a:r>
            <a:r>
              <a:rPr b="0" sz="1125" i="0" u="none">
                <a:solidFill>
                  <a:srgbClr val="14532D"/>
                </a:solidFill>
                <a:latin typeface="Plus Jakarta Sans"/>
              </a:rPr>
              <a:t> Mỗi dòng là 1 Record độc lập, mỗi cột là 1 Field nhất quán.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3800475"/>
            <a:ext cx="5743575" cy="18097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Plus Jakarta Sans"/>
              </a:rPr>
              <a:t>Dữ liệu liên tục:</a:t>
            </a:r>
            <a:r>
              <a:rPr b="0" sz="1125" i="0" u="none">
                <a:solidFill>
                  <a:srgbClr val="14532D"/>
                </a:solidFill>
                <a:latin typeface="Plus Jakarta Sans"/>
              </a:rPr>
              <a:t> Chuẩn hóa kiểu dữ liệu (Số, Tiền tệ, Ngày tháng).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4095750"/>
            <a:ext cx="4991100" cy="3619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Plus Jakarta Sans"/>
              </a:rPr>
              <a:t>Sử dụng VLOOKUP chuẩn:</a:t>
            </a:r>
            <a:r>
              <a:rPr b="0" sz="1125" i="0" u="none">
                <a:solidFill>
                  <a:srgbClr val="14532D"/>
                </a:solidFill>
                <a:latin typeface="Plus Jakarta Sans"/>
              </a:rPr>
              <a:t> Cố định bảng tra cứu bằng dấu $ ($H$4:$J$7).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72287" y="2699444"/>
            <a:ext cx="4710112" cy="2011560"/>
          </a:xfrm>
          <a:prstGeom prst="roundRect">
            <a:avLst>
              <a:gd name="adj" fmla="val 568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72312" y="3213794"/>
            <a:ext cx="4310062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75719"/>
            <a:ext cx="131683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6431" y="3375719"/>
            <a:ext cx="155272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9155" y="3375719"/>
            <a:ext cx="80575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910" y="3375719"/>
            <a:ext cx="884336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9247" y="3375719"/>
            <a:ext cx="147444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809107"/>
            <a:ext cx="1316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6431" y="3809107"/>
            <a:ext cx="1552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9155" y="3809107"/>
            <a:ext cx="805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4910" y="3809107"/>
            <a:ext cx="8843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9247" y="3809107"/>
            <a:ext cx="1474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228207"/>
            <a:ext cx="1316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26431" y="4228207"/>
            <a:ext cx="1552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9155" y="4228207"/>
            <a:ext cx="805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4910" y="4228207"/>
            <a:ext cx="8843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9247" y="4228207"/>
            <a:ext cx="1474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4647307"/>
            <a:ext cx="1316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6431" y="4647307"/>
            <a:ext cx="15527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9155" y="4647307"/>
            <a:ext cx="8057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4910" y="4647307"/>
            <a:ext cx="8843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69247" y="4647307"/>
            <a:ext cx="1474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600" y="2975669"/>
          <a:ext cx="6034085" cy="16859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16831"/>
                <a:gridCol w="1552723"/>
                <a:gridCol w="805755"/>
                <a:gridCol w="884336"/>
                <a:gridCol w="1474440"/>
              </a:tblGrid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Tên BĐS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Giá bán (VNĐ)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Mã MG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Tỷ lệ HH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Hoa hồng (VNĐ)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Villa Riverside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15,000,000,000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MG01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300,000,000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Sunrise Apt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3,200,000,000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MG02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48,000,000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1482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Green Park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6,800,000,000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MG03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1.8%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122,400,000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875A"/>
                </a:solidFill>
                <a:latin typeface="Plus Jakarta Sans"/>
              </a:rPr>
              <a:t>04. TRIỂN KHAI THỰC TẾ (PHẦN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Mô Hình Bảng Tra Cứu Hoa Hồng Môi Giới Nhà Đất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2484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63275" y="6248400"/>
            <a:ext cx="90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5 /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2699444"/>
            <a:ext cx="75426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DANH SÁCH NHÀ ĐẤT QUẢN LÝ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2312" y="2899469"/>
            <a:ext cx="5119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CÔNG THỨC VLOOKUP CHUẨN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6612" y="3328094"/>
            <a:ext cx="417671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monospace"/>
              </a:rPr>
              <a:t>=VLOOKUP(E2, $H$4:$J$7, 3, FALSE)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2312" y="3718619"/>
            <a:ext cx="4405312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E2: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Mã môi giới cần tra cứu</a:t>
            </a:r>
            <a:r>
              <a:t>
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$H$4:$J$7: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Bảng tra cứu cố định bằng dấu $</a:t>
            </a:r>
            <a:r>
              <a:t>
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3: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Cột Tỷ lệ hoa hồng trong bảng tra</a:t>
            </a:r>
            <a:r>
              <a:t>
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FALSE: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Dạng dò tìm chính xác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47987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2952750"/>
            <a:ext cx="53340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24212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228975"/>
            <a:ext cx="1524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875A"/>
                </a:solidFill>
                <a:latin typeface="Plus Jakarta Sans"/>
              </a:rPr>
              <a:t>05. KIỂM THỬ HỆ THỐNG (PHẦN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Khắc Phục Lỗi Trôi Vùng Dữ Liệu Bằng Dấu Dollar ($)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484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63275" y="6248400"/>
            <a:ext cx="90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6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186112"/>
            <a:ext cx="6072187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Plus Jakarta Sans"/>
              </a:rPr>
              <a:t>Nguyên Nhân Lỗi Trôi Vùng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519487"/>
            <a:ext cx="49530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Khi dùng địa chỉ tương đối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H4:J7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lúc kéo công thức từ dòng 1 xuống dòng 2, Excel tự biến đổi thành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H5:J8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. Điều này làm vùng tra cứu bị lệch khỏi bảng dữ liệu gốc, gây ra lỗi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#N/A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190875"/>
            <a:ext cx="5705475" cy="21907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875A"/>
                </a:solidFill>
                <a:latin typeface="Plus Jakarta Sans"/>
              </a:rPr>
              <a:t>Giải Pháp Dùng Địa Chỉ Tuyệt Đối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524250"/>
            <a:ext cx="4953000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Thêm dấu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$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trước Tên Cột và Số Dòng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$H$4:$J$7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(hoặc bấm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F4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). Dấu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$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khóa chặt dòng và cột, giúp bảng tham chiếu luôn giữ nguyên vị trí khi sao chép công thức.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00362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900362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900362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3138487"/>
            <a:ext cx="257175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687" y="3138487"/>
            <a:ext cx="42862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487" y="3138487"/>
            <a:ext cx="42862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875A"/>
                </a:solidFill>
                <a:latin typeface="Plus Jakarta Sans"/>
              </a:rPr>
              <a:t>06. MÔ HÌNH KINH DOANH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Dòng Doanh Thu Đa Dạng &amp; Mở Rộng Linh Hoạt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484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248400"/>
            <a:ext cx="895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7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451" y="3633787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0000"/>
                </a:solidFill>
                <a:latin typeface="Plus Jakarta Sans"/>
              </a:rPr>
              <a:t>Phí Đấu Giá BĐS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106" y="3929062"/>
            <a:ext cx="3786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Thu 1% - 2% trên tổng giá trị tài sản đấu giá thành công.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8251" y="3633787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0000"/>
                </a:solidFill>
                <a:latin typeface="Plus Jakarta Sans"/>
              </a:rPr>
              <a:t>Gói Quản Lý Smart-Home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2906" y="3929062"/>
            <a:ext cx="3786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Cung cấp phần mềm quản lý thuê nhà và thiết bị IoT theo tháng.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2051" y="3633787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00000"/>
                </a:solidFill>
                <a:latin typeface="Plus Jakarta Sans"/>
              </a:rPr>
              <a:t>Hoa Hồng Môi Giới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706" y="3929062"/>
            <a:ext cx="3786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Chia sẻ tỷ lệ hoa hồng tự động minh bạch cho đội ngũ Agent.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09900"/>
            <a:ext cx="355595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17950" y="3009900"/>
            <a:ext cx="355595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300" y="3009900"/>
            <a:ext cx="355595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391025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009900"/>
            <a:ext cx="355595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0099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56025" y="30099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7950" y="4391025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7950" y="3009900"/>
            <a:ext cx="35559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7950" y="30099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4375" y="30099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6300" y="4391025"/>
            <a:ext cx="3555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6300" y="3009900"/>
            <a:ext cx="355595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6300" y="30099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72726" y="3009900"/>
            <a:ext cx="9525" cy="1390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875A"/>
                </a:solidFill>
                <a:latin typeface="Plus Jakarta Sans"/>
              </a:rPr>
              <a:t>07. LỘ TRÌNH PHÁT TRIỂN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Kế Hoạch Tăng Trưởng Trong 3 Năm Tới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2484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63275" y="6248400"/>
            <a:ext cx="90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8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276600"/>
            <a:ext cx="3849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NĂM 1 (2026)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524250"/>
            <a:ext cx="40421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Plus Jakarta Sans"/>
              </a:rPr>
              <a:t>Hoàn Thiện SRS &amp; MVP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819525"/>
            <a:ext cx="3174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Đưa hệ thống đấu giá trực tuyến vào vận hành thử nghiệm tại Hà Nội &amp; TP.HCM.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6075" y="3276600"/>
            <a:ext cx="3849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NĂM 2 (2027)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6075" y="3524250"/>
            <a:ext cx="40421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Plus Jakarta Sans"/>
              </a:rPr>
              <a:t>Mở Rộng Hệ Sinh Thái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6075" y="3819525"/>
            <a:ext cx="3174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Tích hợp trọn bộ IoT Smart-Home và tự động hóa toàn bộ báo cáo thu chi.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425" y="3276600"/>
            <a:ext cx="3849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5CF6"/>
                </a:solidFill>
                <a:latin typeface="Plus Jakarta Sans"/>
              </a:rPr>
              <a:t>NĂM 3 (2028)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425" y="3524250"/>
            <a:ext cx="39275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0000"/>
                </a:solidFill>
                <a:latin typeface="Plus Jakarta Sans"/>
              </a:rPr>
              <a:t>Chiếm Lĩnh Thị Trường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425" y="3819525"/>
            <a:ext cx="3174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Đạt 50,000 giao dịch/năm và chuẩn bị cho vòng gọi vốn Series 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05100" y="2576512"/>
            <a:ext cx="32385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2576512"/>
            <a:ext cx="3238500" cy="2257425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2814637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650" y="2814637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3043237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0" y="3043237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875A"/>
                </a:solidFill>
                <a:latin typeface="Plus Jakarta Sans"/>
              </a:rPr>
              <a:t>08. ĐỘI NGŨ DỰ 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Sinh Viên Khởi Nghiệp Với Đam Mê Công Nghệ BĐS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48400"/>
            <a:ext cx="1809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Smart-Home Pitch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63275" y="6248400"/>
            <a:ext cx="90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Slide 9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1623" y="3729037"/>
            <a:ext cx="362545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00000"/>
                </a:solidFill>
                <a:latin typeface="Plus Jakarta Sans"/>
              </a:rPr>
              <a:t>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7943" y="4005262"/>
            <a:ext cx="3452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0875A"/>
                </a:solidFill>
                <a:latin typeface="Plus Jakarta Sans"/>
              </a:rPr>
              <a:t>Sinh viên Khởi nghiệp Dự 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7943" y="4291012"/>
            <a:ext cx="34528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Xây dựng tầm nhìn dự án, chuẩn hóa quy trình SRS và thiết kế mô hình kinh doanh Smart-Home.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4923" y="3729037"/>
            <a:ext cx="362545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00000"/>
                </a:solidFill>
                <a:latin typeface="Plus Jakarta Sans"/>
              </a:rPr>
              <a:t>Lead Developer &amp;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1243" y="4005262"/>
            <a:ext cx="3452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0875A"/>
                </a:solidFill>
                <a:latin typeface="Plus Jakarta Sans"/>
              </a:rPr>
              <a:t>Chuyên gia Dữ liệu &amp; Hệ thống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243" y="4291012"/>
            <a:ext cx="34528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Chịu trách nhiệm thiết kế hệ thống Excel chuẩn hóa, thuật toán VLOOKUP và sàn đấu giá.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1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14675" y="4029075"/>
            <a:ext cx="2019300" cy="714375"/>
          </a:xfrm>
          <a:prstGeom prst="roundRect">
            <a:avLst>
              <a:gd name="adj" fmla="val 16000"/>
            </a:avLst>
          </a:prstGeom>
          <a:solidFill>
            <a:srgbClr val="142C36"/>
          </a:solidFill>
          <a:ln w="9525">
            <a:solidFill>
              <a:srgbClr val="21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62575" y="4029075"/>
            <a:ext cx="1895475" cy="714375"/>
          </a:xfrm>
          <a:prstGeom prst="roundRect">
            <a:avLst>
              <a:gd name="adj" fmla="val 16000"/>
            </a:avLst>
          </a:prstGeom>
          <a:solidFill>
            <a:srgbClr val="142C36"/>
          </a:solidFill>
          <a:ln w="9525">
            <a:solidFill>
              <a:srgbClr val="21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86650" y="4029075"/>
            <a:ext cx="1590675" cy="714375"/>
          </a:xfrm>
          <a:prstGeom prst="roundRect">
            <a:avLst>
              <a:gd name="adj" fmla="val 16000"/>
            </a:avLst>
          </a:prstGeom>
          <a:solidFill>
            <a:srgbClr val="142C36"/>
          </a:solidFill>
          <a:ln w="9525">
            <a:solidFill>
              <a:srgbClr val="21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B074"/>
                </a:solidFill>
                <a:latin typeface="Plus Jakarta Sans"/>
              </a:rPr>
              <a:t>09. KÊU GỌI ĐẦU TƯ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Đồng Hành Cùng Dự Án Smart-Home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3010" y="2466975"/>
            <a:ext cx="7825978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600" i="0" u="none">
                <a:solidFill>
                  <a:srgbClr val="00B074"/>
                </a:solidFill>
                <a:latin typeface="Plus Jakarta Sans"/>
              </a:rPr>
              <a:t>$150,000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9343" y="3457575"/>
            <a:ext cx="7453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CBD5E1"/>
                </a:solidFill>
                <a:latin typeface="Plus Jakarta Sans"/>
              </a:rPr>
              <a:t>Đổi lấy 15% Cổ phần cho Vòng Hạt Giống (Seed Round)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29350"/>
            <a:ext cx="3131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Cảm ơn Nhà Đầu Tư &amp; Hội Đồng Đánh Giá!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8700" y="6229350"/>
            <a:ext cx="3543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Liên hệ: contact@smarthome.vn | 090 123 4567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7543" y="4191000"/>
            <a:ext cx="1833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Phát triển Sản phẩm (MVP)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7543" y="4343400"/>
            <a:ext cx="18335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50% Vốn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0921" y="4191000"/>
            <a:ext cx="1678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Marketing &amp; Tìm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0921" y="4343400"/>
            <a:ext cx="1678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30% Vốn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0" y="4191000"/>
            <a:ext cx="13239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Vận hành &amp; Pháp lý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4343400"/>
            <a:ext cx="13239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Plus Jakarta Sans"/>
              </a:rPr>
              <a:t>20% Vốn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8192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1100" y="1028700"/>
            <a:ext cx="292536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6475" y="1781175"/>
            <a:ext cx="8829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https://media.istockphoto.com/id/2165792881/photo/modern-villa-futuristic-architectural-design.jpg?s=612x612&amp;w=0&amp;k=20&amp;c=A5KoEwO862W2pRTgX66dtHTGGTM6SMNe_r8sqgInWMc=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2133600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